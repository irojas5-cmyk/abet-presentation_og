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8"/>
  </p:notesMasterIdLst>
  <p:handoutMasterIdLst>
    <p:handoutMasterId r:id="rId9"/>
  </p:handoutMasterIdLst>
  <p:sldIdLst>
    <p:sldId id="364" r:id="rId2"/>
    <p:sldId id="389" r:id="rId3"/>
    <p:sldId id="390" r:id="rId4"/>
    <p:sldId id="391" r:id="rId5"/>
    <p:sldId id="392" r:id="rId6"/>
    <p:sldId id="393" r:id="rId7"/>
  </p:sldIdLst>
  <p:sldSz cx="5907088" cy="4435475"/>
  <p:notesSz cx="7010400" cy="92964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7">
          <p15:clr>
            <a:srgbClr val="A4A3A4"/>
          </p15:clr>
        </p15:guide>
        <p15:guide id="2" pos="18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67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 autoAdjust="0"/>
    <p:restoredTop sz="94660" autoAdjust="0"/>
  </p:normalViewPr>
  <p:slideViewPr>
    <p:cSldViewPr snapToGrid="0">
      <p:cViewPr varScale="1">
        <p:scale>
          <a:sx n="106" d="100"/>
          <a:sy n="106" d="100"/>
        </p:scale>
        <p:origin x="1142" y="48"/>
      </p:cViewPr>
      <p:guideLst>
        <p:guide orient="horz" pos="1397"/>
        <p:guide pos="18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0063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798" tIns="46900" rIns="93798" bIns="46900" numCol="1" anchor="t" anchorCtr="0" compatLnSpc="1">
            <a:prstTxWarp prst="textNoShape">
              <a:avLst/>
            </a:prstTxWarp>
          </a:bodyPr>
          <a:lstStyle>
            <a:lvl1pPr algn="l" defTabSz="931863" eaLnBrk="0" hangingPunct="0">
              <a:defRPr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40062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798" tIns="46900" rIns="93798" bIns="46900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40063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798" tIns="46900" rIns="93798" bIns="46900" numCol="1" anchor="b" anchorCtr="0" compatLnSpc="1">
            <a:prstTxWarp prst="textNoShape">
              <a:avLst/>
            </a:prstTxWarp>
          </a:bodyPr>
          <a:lstStyle>
            <a:lvl1pPr algn="l" defTabSz="931863" eaLnBrk="0" hangingPunct="0">
              <a:defRPr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31263"/>
            <a:ext cx="3040062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798" tIns="46900" rIns="93798" bIns="46900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>
                <a:latin typeface="Times New Roman" pitchFamily="18" charset="0"/>
              </a:defRPr>
            </a:lvl1pPr>
          </a:lstStyle>
          <a:p>
            <a:fld id="{E004938D-D29E-49D4-BE3D-2E4E5641691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432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0063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798" tIns="46900" rIns="93798" bIns="46900" numCol="1" anchor="t" anchorCtr="0" compatLnSpc="1">
            <a:prstTxWarp prst="textNoShape">
              <a:avLst/>
            </a:prstTxWarp>
          </a:bodyPr>
          <a:lstStyle>
            <a:lvl1pPr algn="l" defTabSz="931863" eaLnBrk="0" hangingPunct="0">
              <a:defRPr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40062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798" tIns="46900" rIns="93798" bIns="46900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7450" y="700088"/>
            <a:ext cx="4638675" cy="3481387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625" y="4416425"/>
            <a:ext cx="5137150" cy="418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798" tIns="46900" rIns="93798" bIns="469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0"/>
            <a:r>
              <a:rPr lang="en-US" smtClean="0"/>
              <a:t>Second level</a:t>
            </a:r>
          </a:p>
          <a:p>
            <a:pPr lvl="0"/>
            <a:r>
              <a:rPr lang="en-US" smtClean="0"/>
              <a:t>Third level</a:t>
            </a:r>
          </a:p>
          <a:p>
            <a:pPr lvl="0"/>
            <a:r>
              <a:rPr lang="en-US" smtClean="0"/>
              <a:t>Fourth level</a:t>
            </a:r>
          </a:p>
          <a:p>
            <a:pPr lvl="0"/>
            <a:r>
              <a:rPr lang="en-US" smtClean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40063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798" tIns="46900" rIns="93798" bIns="46900" numCol="1" anchor="b" anchorCtr="0" compatLnSpc="1">
            <a:prstTxWarp prst="textNoShape">
              <a:avLst/>
            </a:prstTxWarp>
          </a:bodyPr>
          <a:lstStyle>
            <a:lvl1pPr algn="l" defTabSz="931863" eaLnBrk="0" hangingPunct="0">
              <a:defRPr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31263"/>
            <a:ext cx="3040062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798" tIns="46900" rIns="93798" bIns="46900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>
                <a:latin typeface="Times New Roman" pitchFamily="18" charset="0"/>
              </a:defRPr>
            </a:lvl1pPr>
          </a:lstStyle>
          <a:p>
            <a:fld id="{15B09078-B010-4516-8A28-B0DC3AF65F9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0232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2913" y="1377950"/>
            <a:ext cx="5021262" cy="95091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85825" y="2513013"/>
            <a:ext cx="4135438" cy="11334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CHE210 01/09/12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1741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CHE210 01/09/12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093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5" y="2849563"/>
            <a:ext cx="5021263" cy="8810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725" y="1879600"/>
            <a:ext cx="5021263" cy="969963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CHE210 01/09/12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6632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9700" y="1016000"/>
            <a:ext cx="2736850" cy="26622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8950" y="1016000"/>
            <a:ext cx="2738438" cy="26622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CHE210 01/09/12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2008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275" y="177800"/>
            <a:ext cx="5316538" cy="7397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275" y="992188"/>
            <a:ext cx="2609850" cy="4143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275" y="1406525"/>
            <a:ext cx="2609850" cy="25558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0375" y="992188"/>
            <a:ext cx="2611438" cy="4143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0375" y="1406525"/>
            <a:ext cx="2611438" cy="25558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CHE210 01/09/12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287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CHE210 01/09/12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8242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CHE210 01/09/12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090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275" y="176213"/>
            <a:ext cx="1943100" cy="75247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9813" y="176213"/>
            <a:ext cx="3302000" cy="37861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275" y="928688"/>
            <a:ext cx="1943100" cy="30337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CHE210 01/09/12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0224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7288" y="3105150"/>
            <a:ext cx="3544887" cy="366713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57288" y="396875"/>
            <a:ext cx="3544887" cy="26606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7288" y="3471863"/>
            <a:ext cx="3544887" cy="5207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CHE210 01/09/12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9639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CHE210 01/09/12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1806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60863" y="173038"/>
            <a:ext cx="1406525" cy="3505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9700" y="173038"/>
            <a:ext cx="4068763" cy="3505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CHE210 01/09/12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668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7650" y="173038"/>
            <a:ext cx="5462588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6114" tIns="27019" rIns="56114" bIns="27019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338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9700" y="1016000"/>
            <a:ext cx="5627688" cy="266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6114" tIns="27019" rIns="56114" bIns="270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This is the first bullet. As you can see, there is plenty of word wrapping going on, and it is 18-point text.</a:t>
            </a:r>
          </a:p>
          <a:p>
            <a:pPr lvl="1"/>
            <a:r>
              <a:rPr lang="en-US" smtClean="0"/>
              <a:t>Second Level. It is 15-point text.</a:t>
            </a:r>
          </a:p>
          <a:p>
            <a:pPr lvl="2"/>
            <a:r>
              <a:rPr lang="en-US" smtClean="0"/>
              <a:t>Third Level. It is 14-point text.</a:t>
            </a:r>
          </a:p>
          <a:p>
            <a:pPr lvl="3"/>
            <a:r>
              <a:rPr lang="en-US" smtClean="0"/>
              <a:t>Fourth Level. If you really needed a last subset, it would have to wrap correctly and be 12-pt text.</a:t>
            </a:r>
          </a:p>
        </p:txBody>
      </p:sp>
      <p:sp>
        <p:nvSpPr>
          <p:cNvPr id="633860" name="Rectangle 4"/>
          <p:cNvSpPr>
            <a:spLocks noChangeArrowheads="1"/>
          </p:cNvSpPr>
          <p:nvPr/>
        </p:nvSpPr>
        <p:spPr bwMode="auto">
          <a:xfrm>
            <a:off x="0" y="4251325"/>
            <a:ext cx="3076575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0543" tIns="60272" rIns="120543" bIns="60272" anchor="ctr"/>
          <a:lstStyle/>
          <a:p>
            <a:pPr algn="l" defTabSz="1196975" eaLnBrk="0" hangingPunct="0"/>
            <a:r>
              <a:rPr lang="en-US" sz="1000" dirty="0" smtClean="0"/>
              <a:t>CHE494 08/23/11 </a:t>
            </a:r>
            <a:fld id="{5AB6CEF4-2A15-4D98-9627-272F502B9270}" type="slidenum">
              <a:rPr lang="en-US" sz="1000" smtClean="0"/>
              <a:pPr algn="l" defTabSz="1196975" eaLnBrk="0" hangingPunct="0"/>
              <a:t>‹#›</a:t>
            </a:fld>
            <a:r>
              <a:rPr lang="en-US" sz="1000" dirty="0" smtClean="0"/>
              <a:t>/55</a:t>
            </a:r>
            <a:endParaRPr lang="en-US" sz="1000" dirty="0"/>
          </a:p>
        </p:txBody>
      </p:sp>
      <p:sp>
        <p:nvSpPr>
          <p:cNvPr id="6338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524000" y="4194175"/>
            <a:ext cx="2895600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r>
              <a:rPr lang="en-US" smtClean="0"/>
              <a:t>CHE210 01/09/12</a:t>
            </a:r>
            <a:endParaRPr lang="en-US"/>
          </a:p>
        </p:txBody>
      </p:sp>
      <p:pic>
        <p:nvPicPr>
          <p:cNvPr id="633862" name="Picture 6" descr="markonlyred_graye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313" y="1398588"/>
            <a:ext cx="307975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547688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+mj-lt"/>
          <a:ea typeface="+mj-ea"/>
          <a:cs typeface="+mj-cs"/>
        </a:defRPr>
      </a:lvl1pPr>
      <a:lvl2pPr algn="ctr" defTabSz="547688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pitchFamily="34" charset="0"/>
        </a:defRPr>
      </a:lvl2pPr>
      <a:lvl3pPr algn="ctr" defTabSz="547688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pitchFamily="34" charset="0"/>
        </a:defRPr>
      </a:lvl3pPr>
      <a:lvl4pPr algn="ctr" defTabSz="547688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pitchFamily="34" charset="0"/>
        </a:defRPr>
      </a:lvl4pPr>
      <a:lvl5pPr algn="ctr" defTabSz="547688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pitchFamily="34" charset="0"/>
        </a:defRPr>
      </a:lvl5pPr>
      <a:lvl6pPr marL="457200" algn="ctr" defTabSz="547688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pitchFamily="34" charset="0"/>
        </a:defRPr>
      </a:lvl6pPr>
      <a:lvl7pPr marL="914400" algn="ctr" defTabSz="547688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pitchFamily="34" charset="0"/>
        </a:defRPr>
      </a:lvl7pPr>
      <a:lvl8pPr marL="1371600" algn="ctr" defTabSz="547688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pitchFamily="34" charset="0"/>
        </a:defRPr>
      </a:lvl8pPr>
      <a:lvl9pPr marL="1828800" algn="ctr" defTabSz="547688" rtl="0" fontAlgn="base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pitchFamily="34" charset="0"/>
        </a:defRPr>
      </a:lvl9pPr>
    </p:titleStyle>
    <p:bodyStyle>
      <a:lvl1pPr marL="227013" indent="-227013" algn="l" defTabSz="547688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615950" indent="-169863" algn="l" defTabSz="547688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1500">
          <a:solidFill>
            <a:schemeClr val="tx1"/>
          </a:solidFill>
          <a:latin typeface="+mn-lt"/>
        </a:defRPr>
      </a:lvl2pPr>
      <a:lvl3pPr marL="912813" indent="-147638" algn="l" defTabSz="547688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1400">
          <a:solidFill>
            <a:schemeClr val="tx1"/>
          </a:solidFill>
          <a:latin typeface="+mn-lt"/>
        </a:defRPr>
      </a:lvl3pPr>
      <a:lvl4pPr marL="1187450" indent="-125413" algn="l" defTabSz="547688" rtl="0" fontAlgn="base">
        <a:spcBef>
          <a:spcPct val="20000"/>
        </a:spcBef>
        <a:spcAft>
          <a:spcPct val="0"/>
        </a:spcAft>
        <a:buClr>
          <a:schemeClr val="tx1"/>
        </a:buClr>
        <a:buChar char="­"/>
        <a:defRPr sz="1200">
          <a:solidFill>
            <a:schemeClr val="tx1"/>
          </a:solidFill>
          <a:latin typeface="+mn-lt"/>
        </a:defRPr>
      </a:lvl4pPr>
      <a:lvl5pPr marL="1460500" indent="-123825" algn="l" defTabSz="547688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1200">
          <a:solidFill>
            <a:schemeClr val="tx1"/>
          </a:solidFill>
          <a:latin typeface="+mn-lt"/>
        </a:defRPr>
      </a:lvl5pPr>
      <a:lvl6pPr marL="1917700" indent="-123825" algn="l" defTabSz="547688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1200">
          <a:solidFill>
            <a:schemeClr val="tx1"/>
          </a:solidFill>
          <a:latin typeface="+mn-lt"/>
        </a:defRPr>
      </a:lvl6pPr>
      <a:lvl7pPr marL="2374900" indent="-123825" algn="l" defTabSz="547688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1200">
          <a:solidFill>
            <a:schemeClr val="tx1"/>
          </a:solidFill>
          <a:latin typeface="+mn-lt"/>
        </a:defRPr>
      </a:lvl7pPr>
      <a:lvl8pPr marL="2832100" indent="-123825" algn="l" defTabSz="547688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1200">
          <a:solidFill>
            <a:schemeClr val="tx1"/>
          </a:solidFill>
          <a:latin typeface="+mn-lt"/>
        </a:defRPr>
      </a:lvl8pPr>
      <a:lvl9pPr marL="3289300" indent="-123825" algn="l" defTabSz="547688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196903" y="197133"/>
            <a:ext cx="5513282" cy="4041211"/>
          </a:xfrm>
          <a:prstGeom prst="rect">
            <a:avLst/>
          </a:prstGeom>
          <a:gradFill rotWithShape="1">
            <a:gsLst>
              <a:gs pos="0">
                <a:srgbClr val="003263">
                  <a:gamma/>
                  <a:tint val="84706"/>
                  <a:invGamma/>
                </a:srgbClr>
              </a:gs>
              <a:gs pos="100000">
                <a:srgbClr val="003263">
                  <a:alpha val="14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9092" tIns="29546" rIns="59092" bIns="29546" anchor="ctr"/>
          <a:lstStyle/>
          <a:p>
            <a:pPr algn="l"/>
            <a:endParaRPr lang="en-US">
              <a:solidFill>
                <a:srgbClr val="000000"/>
              </a:solidFill>
            </a:endParaRP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 rot="5400000">
            <a:off x="2854978" y="1383365"/>
            <a:ext cx="197132" cy="5907088"/>
          </a:xfrm>
          <a:prstGeom prst="rect">
            <a:avLst/>
          </a:prstGeom>
          <a:solidFill>
            <a:srgbClr val="003263">
              <a:alpha val="8500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9092" tIns="29546" rIns="59092" bIns="29546" anchor="ctr"/>
          <a:lstStyle/>
          <a:p>
            <a:pPr algn="l"/>
            <a:endParaRPr lang="en-US">
              <a:solidFill>
                <a:srgbClr val="000000"/>
              </a:solidFill>
            </a:endParaRP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 rot="5400000">
            <a:off x="2854978" y="-2854978"/>
            <a:ext cx="197132" cy="5907088"/>
          </a:xfrm>
          <a:prstGeom prst="rect">
            <a:avLst/>
          </a:prstGeom>
          <a:solidFill>
            <a:srgbClr val="003263">
              <a:alpha val="8500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9092" tIns="29546" rIns="59092" bIns="29546" anchor="ctr"/>
          <a:lstStyle/>
          <a:p>
            <a:pPr algn="l"/>
            <a:endParaRPr lang="en-US">
              <a:solidFill>
                <a:srgbClr val="000000"/>
              </a:solidFill>
            </a:endParaRP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5710186" y="1"/>
            <a:ext cx="196903" cy="4435475"/>
          </a:xfrm>
          <a:prstGeom prst="rect">
            <a:avLst/>
          </a:prstGeom>
          <a:solidFill>
            <a:srgbClr val="003263">
              <a:alpha val="8500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9092" tIns="29546" rIns="59092" bIns="29546" anchor="ctr"/>
          <a:lstStyle/>
          <a:p>
            <a:pPr algn="l"/>
            <a:endParaRPr lang="en-US">
              <a:solidFill>
                <a:srgbClr val="000000"/>
              </a:solidFill>
            </a:endParaRP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1" y="1"/>
            <a:ext cx="196903" cy="4435475"/>
          </a:xfrm>
          <a:prstGeom prst="rect">
            <a:avLst/>
          </a:prstGeom>
          <a:solidFill>
            <a:srgbClr val="003263">
              <a:alpha val="8500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9092" tIns="29546" rIns="59092" bIns="29546" anchor="ctr"/>
          <a:lstStyle/>
          <a:p>
            <a:pPr algn="l"/>
            <a:endParaRPr lang="en-US">
              <a:solidFill>
                <a:srgbClr val="000000"/>
              </a:solidFill>
            </a:endParaRPr>
          </a:p>
        </p:txBody>
      </p:sp>
      <p:sp>
        <p:nvSpPr>
          <p:cNvPr id="2072" name="Rectangle 24"/>
          <p:cNvSpPr>
            <a:spLocks noGrp="1" noChangeArrowheads="1"/>
          </p:cNvSpPr>
          <p:nvPr>
            <p:ph type="ctrTitle"/>
          </p:nvPr>
        </p:nvSpPr>
        <p:spPr>
          <a:xfrm>
            <a:off x="196903" y="1023036"/>
            <a:ext cx="5513282" cy="1853284"/>
          </a:xfrm>
          <a:noFill/>
          <a:ln/>
        </p:spPr>
        <p:txBody>
          <a:bodyPr/>
          <a:lstStyle/>
          <a:p>
            <a:r>
              <a:rPr lang="en-US" sz="2200" dirty="0" smtClean="0">
                <a:solidFill>
                  <a:schemeClr val="bg1"/>
                </a:solidFill>
              </a:rPr>
              <a:t>CHE499 Professional Development Seminar</a:t>
            </a:r>
            <a:br>
              <a:rPr lang="en-US" sz="2200" dirty="0" smtClean="0">
                <a:solidFill>
                  <a:schemeClr val="bg1"/>
                </a:solidFill>
              </a:rPr>
            </a:br>
            <a:r>
              <a:rPr lang="en-US" sz="2200" dirty="0" smtClean="0">
                <a:solidFill>
                  <a:schemeClr val="bg1"/>
                </a:solidFill>
              </a:rPr>
              <a:t>Instructor: Alan Zdunek</a:t>
            </a:r>
            <a:br>
              <a:rPr lang="en-US" sz="2200" dirty="0" smtClean="0">
                <a:solidFill>
                  <a:schemeClr val="bg1"/>
                </a:solidFill>
              </a:rPr>
            </a:br>
            <a:r>
              <a:rPr lang="en-US" sz="2200" dirty="0" smtClean="0">
                <a:solidFill>
                  <a:schemeClr val="bg1"/>
                </a:solidFill>
              </a:rPr>
              <a:t/>
            </a:r>
            <a:br>
              <a:rPr lang="en-US" sz="2200" dirty="0" smtClean="0">
                <a:solidFill>
                  <a:schemeClr val="bg1"/>
                </a:solidFill>
              </a:rPr>
            </a:b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069" name="Rectangle 21"/>
          <p:cNvSpPr>
            <a:spLocks noGrp="1" noChangeArrowheads="1"/>
          </p:cNvSpPr>
          <p:nvPr>
            <p:ph type="subTitle" idx="1"/>
          </p:nvPr>
        </p:nvSpPr>
        <p:spPr>
          <a:xfrm>
            <a:off x="198441" y="2278433"/>
            <a:ext cx="5513282" cy="950541"/>
          </a:xfrm>
          <a:noFill/>
          <a:ln/>
        </p:spPr>
        <p:txBody>
          <a:bodyPr/>
          <a:lstStyle/>
          <a:p>
            <a:pPr>
              <a:lnSpc>
                <a:spcPct val="80000"/>
              </a:lnSpc>
            </a:pPr>
            <a:endParaRPr lang="en-US" sz="1600" dirty="0">
              <a:solidFill>
                <a:srgbClr val="00234C"/>
              </a:solidFill>
            </a:endParaRPr>
          </a:p>
        </p:txBody>
      </p:sp>
      <p:pic>
        <p:nvPicPr>
          <p:cNvPr id="2070" name="Picture 22" descr="CAM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598" y="3499097"/>
            <a:ext cx="560969" cy="612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1" name="Line 23"/>
          <p:cNvSpPr>
            <a:spLocks noChangeShapeType="1"/>
          </p:cNvSpPr>
          <p:nvPr/>
        </p:nvSpPr>
        <p:spPr bwMode="auto">
          <a:xfrm>
            <a:off x="0" y="197132"/>
            <a:ext cx="5907088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9092" tIns="29546" rIns="59092" bIns="29546"/>
          <a:lstStyle/>
          <a:p>
            <a:pPr algn="l"/>
            <a:endParaRPr lang="en-US">
              <a:solidFill>
                <a:srgbClr val="000000"/>
              </a:solidFill>
            </a:endParaRPr>
          </a:p>
        </p:txBody>
      </p:sp>
      <p:sp>
        <p:nvSpPr>
          <p:cNvPr id="2073" name="Line 25"/>
          <p:cNvSpPr>
            <a:spLocks noChangeShapeType="1"/>
          </p:cNvSpPr>
          <p:nvPr/>
        </p:nvSpPr>
        <p:spPr bwMode="auto">
          <a:xfrm flipV="1">
            <a:off x="196903" y="1"/>
            <a:ext cx="0" cy="4435475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9092" tIns="29546" rIns="59092" bIns="29546"/>
          <a:lstStyle/>
          <a:p>
            <a:pPr algn="l"/>
            <a:endParaRPr lang="en-US">
              <a:solidFill>
                <a:srgbClr val="000000"/>
              </a:solidFill>
            </a:endParaRPr>
          </a:p>
        </p:txBody>
      </p:sp>
      <p:sp>
        <p:nvSpPr>
          <p:cNvPr id="2074" name="Line 26"/>
          <p:cNvSpPr>
            <a:spLocks noChangeShapeType="1"/>
          </p:cNvSpPr>
          <p:nvPr/>
        </p:nvSpPr>
        <p:spPr bwMode="auto">
          <a:xfrm flipV="1">
            <a:off x="5710185" y="1"/>
            <a:ext cx="0" cy="4435475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9092" tIns="29546" rIns="59092" bIns="29546"/>
          <a:lstStyle/>
          <a:p>
            <a:pPr algn="l"/>
            <a:endParaRPr lang="en-US">
              <a:solidFill>
                <a:srgbClr val="000000"/>
              </a:solidFill>
            </a:endParaRPr>
          </a:p>
        </p:txBody>
      </p:sp>
      <p:sp>
        <p:nvSpPr>
          <p:cNvPr id="2075" name="Line 27"/>
          <p:cNvSpPr>
            <a:spLocks noChangeShapeType="1"/>
          </p:cNvSpPr>
          <p:nvPr/>
        </p:nvSpPr>
        <p:spPr bwMode="auto">
          <a:xfrm>
            <a:off x="0" y="4238343"/>
            <a:ext cx="5907088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9092" tIns="29546" rIns="59092" bIns="29546"/>
          <a:lstStyle/>
          <a:p>
            <a:pPr algn="l"/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578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defTabSz="914400">
              <a:lnSpc>
                <a:spcPct val="90000"/>
              </a:lnSpc>
            </a:pPr>
            <a:r>
              <a:rPr lang="en-US" sz="1900" b="1" dirty="0" smtClean="0"/>
              <a:t>Wednesdays  </a:t>
            </a:r>
            <a:r>
              <a:rPr lang="en-US" sz="1900" b="1" dirty="0"/>
              <a:t>12:20- 1:00pm</a:t>
            </a:r>
          </a:p>
          <a:p>
            <a:pPr marL="731837" lvl="1" indent="-342900" defTabSz="914400">
              <a:lnSpc>
                <a:spcPct val="90000"/>
              </a:lnSpc>
            </a:pPr>
            <a:r>
              <a:rPr lang="en-US" sz="1600" dirty="0"/>
              <a:t>Periodically during the </a:t>
            </a:r>
            <a:r>
              <a:rPr lang="en-US" sz="1600" dirty="0" smtClean="0"/>
              <a:t>semester (4 to 5) </a:t>
            </a:r>
            <a:endParaRPr lang="en-US" sz="1600" dirty="0"/>
          </a:p>
          <a:p>
            <a:pPr marL="731837" lvl="1" indent="-342900" defTabSz="914400">
              <a:lnSpc>
                <a:spcPct val="90000"/>
              </a:lnSpc>
            </a:pPr>
            <a:r>
              <a:rPr lang="en-US" sz="1600" dirty="0"/>
              <a:t>Specific days will be announced at least one week in </a:t>
            </a:r>
            <a:r>
              <a:rPr lang="en-US" sz="1600" dirty="0" smtClean="0"/>
              <a:t>advance</a:t>
            </a:r>
          </a:p>
          <a:p>
            <a:pPr marL="342900" indent="-342900" defTabSz="914400">
              <a:lnSpc>
                <a:spcPct val="90000"/>
              </a:lnSpc>
            </a:pPr>
            <a:r>
              <a:rPr lang="en-US" sz="1900" dirty="0" smtClean="0"/>
              <a:t>Possible speakers/topics:</a:t>
            </a:r>
          </a:p>
          <a:p>
            <a:pPr marL="731837" lvl="1" indent="-342900" defTabSz="914400">
              <a:lnSpc>
                <a:spcPct val="90000"/>
              </a:lnSpc>
            </a:pPr>
            <a:r>
              <a:rPr lang="en-US" sz="1600" dirty="0" smtClean="0"/>
              <a:t>Dr. Said Al-</a:t>
            </a:r>
            <a:r>
              <a:rPr lang="en-US" sz="1600" dirty="0" err="1" smtClean="0"/>
              <a:t>Hallaj</a:t>
            </a:r>
            <a:r>
              <a:rPr lang="en-US" sz="1600" dirty="0" smtClean="0"/>
              <a:t> (</a:t>
            </a:r>
            <a:r>
              <a:rPr lang="en-US" sz="1600" dirty="0" err="1" smtClean="0"/>
              <a:t>AllCell</a:t>
            </a:r>
            <a:r>
              <a:rPr lang="en-US" sz="1600" dirty="0" smtClean="0"/>
              <a:t> Technologies):  Start-up company</a:t>
            </a:r>
          </a:p>
          <a:p>
            <a:pPr marL="731837" lvl="1" indent="-342900" defTabSz="914400">
              <a:lnSpc>
                <a:spcPct val="90000"/>
              </a:lnSpc>
            </a:pPr>
            <a:r>
              <a:rPr lang="en-US" sz="1600" dirty="0" smtClean="0"/>
              <a:t>Dr. Dima Hart (UOP): Engineering in practice</a:t>
            </a:r>
          </a:p>
          <a:p>
            <a:pPr marL="731837" lvl="1" indent="-342900" defTabSz="914400">
              <a:lnSpc>
                <a:spcPct val="90000"/>
              </a:lnSpc>
            </a:pPr>
            <a:r>
              <a:rPr lang="en-US" sz="1600" dirty="0" smtClean="0"/>
              <a:t>Dr. Abdul </a:t>
            </a:r>
            <a:r>
              <a:rPr lang="en-US" sz="1600" dirty="0" err="1" smtClean="0"/>
              <a:t>Kwaja</a:t>
            </a:r>
            <a:r>
              <a:rPr lang="en-US" sz="1600" dirty="0" smtClean="0"/>
              <a:t> (Nalco):  Engineering in practice</a:t>
            </a:r>
          </a:p>
          <a:p>
            <a:pPr marL="731837" lvl="1" indent="-342900" defTabSz="914400">
              <a:lnSpc>
                <a:spcPct val="90000"/>
              </a:lnSpc>
            </a:pPr>
            <a:r>
              <a:rPr lang="en-US" sz="1600" dirty="0" smtClean="0"/>
              <a:t>Topic: Useful written communication practices</a:t>
            </a:r>
          </a:p>
          <a:p>
            <a:pPr marL="731837" lvl="1" indent="-342900" defTabSz="914400">
              <a:lnSpc>
                <a:spcPct val="90000"/>
              </a:lnSpc>
            </a:pPr>
            <a:r>
              <a:rPr lang="en-US" sz="1600" dirty="0" smtClean="0"/>
              <a:t>Speaker/Topic: TBD</a:t>
            </a:r>
          </a:p>
          <a:p>
            <a:pPr marL="731837" lvl="1" indent="-342900" defTabSz="914400">
              <a:lnSpc>
                <a:spcPct val="90000"/>
              </a:lnSpc>
            </a:pPr>
            <a:endParaRPr lang="en-US" sz="1600" dirty="0" smtClean="0"/>
          </a:p>
          <a:p>
            <a:pPr marL="731837" lvl="1" indent="-342900" defTabSz="914400">
              <a:lnSpc>
                <a:spcPct val="90000"/>
              </a:lnSpc>
            </a:pPr>
            <a:endParaRPr lang="en-US" sz="1600" dirty="0" smtClean="0"/>
          </a:p>
          <a:p>
            <a:pPr marL="731837" lvl="1" indent="-342900" defTabSz="914400">
              <a:lnSpc>
                <a:spcPct val="90000"/>
              </a:lnSpc>
            </a:pPr>
            <a:endParaRPr lang="en-US" sz="1600" dirty="0" smtClean="0"/>
          </a:p>
          <a:p>
            <a:pPr marL="731837" lvl="1" indent="-342900" defTabSz="914400">
              <a:lnSpc>
                <a:spcPct val="90000"/>
              </a:lnSpc>
            </a:pPr>
            <a:endParaRPr lang="en-US" sz="16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Lectures Spring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069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defTabSz="914400">
              <a:lnSpc>
                <a:spcPct val="90000"/>
              </a:lnSpc>
            </a:pPr>
            <a:r>
              <a:rPr lang="en-US" sz="1900" b="1" dirty="0" smtClean="0"/>
              <a:t>Wednesdays  </a:t>
            </a:r>
            <a:r>
              <a:rPr lang="en-US" sz="1900" b="1" dirty="0"/>
              <a:t>12:20- 1:00pm</a:t>
            </a:r>
          </a:p>
          <a:p>
            <a:pPr marL="731837" lvl="1" indent="-342900" defTabSz="914400">
              <a:lnSpc>
                <a:spcPct val="90000"/>
              </a:lnSpc>
            </a:pPr>
            <a:r>
              <a:rPr lang="en-US" sz="1600" dirty="0"/>
              <a:t>Periodically during the </a:t>
            </a:r>
            <a:r>
              <a:rPr lang="en-US" sz="1600" dirty="0" smtClean="0"/>
              <a:t>semester (4 to 5) </a:t>
            </a:r>
            <a:endParaRPr lang="en-US" sz="1600" dirty="0"/>
          </a:p>
          <a:p>
            <a:pPr marL="731837" lvl="1" indent="-342900" defTabSz="914400">
              <a:lnSpc>
                <a:spcPct val="90000"/>
              </a:lnSpc>
            </a:pPr>
            <a:r>
              <a:rPr lang="en-US" sz="1600" dirty="0"/>
              <a:t>Specific days will be announced at least one week in </a:t>
            </a:r>
            <a:r>
              <a:rPr lang="en-US" sz="1600" dirty="0" smtClean="0"/>
              <a:t>advance</a:t>
            </a:r>
          </a:p>
          <a:p>
            <a:pPr marL="342900" indent="-342900" defTabSz="914400">
              <a:lnSpc>
                <a:spcPct val="90000"/>
              </a:lnSpc>
            </a:pPr>
            <a:r>
              <a:rPr lang="en-US" sz="1900" dirty="0" smtClean="0"/>
              <a:t>Possible speakers/topics:</a:t>
            </a:r>
          </a:p>
          <a:p>
            <a:pPr marL="731837" lvl="1" indent="-342900" defTabSz="914400">
              <a:lnSpc>
                <a:spcPct val="90000"/>
              </a:lnSpc>
            </a:pPr>
            <a:r>
              <a:rPr lang="en-US" sz="1600" dirty="0" smtClean="0"/>
              <a:t>Said Al-</a:t>
            </a:r>
            <a:r>
              <a:rPr lang="en-US" sz="1600" dirty="0" err="1" smtClean="0"/>
              <a:t>Hallaj</a:t>
            </a:r>
            <a:r>
              <a:rPr lang="en-US" sz="1600" dirty="0" smtClean="0"/>
              <a:t> (</a:t>
            </a:r>
            <a:r>
              <a:rPr lang="en-US" sz="1600" dirty="0" err="1" smtClean="0"/>
              <a:t>AllCell</a:t>
            </a:r>
            <a:r>
              <a:rPr lang="en-US" sz="1600" dirty="0" smtClean="0"/>
              <a:t> Technologies)</a:t>
            </a:r>
          </a:p>
          <a:p>
            <a:pPr marL="731837" lvl="1" indent="-342900" defTabSz="914400">
              <a:lnSpc>
                <a:spcPct val="90000"/>
              </a:lnSpc>
            </a:pPr>
            <a:r>
              <a:rPr lang="en-US" sz="1600" dirty="0" smtClean="0"/>
              <a:t>Chuck Na, UIC Office of Technology Management</a:t>
            </a:r>
          </a:p>
          <a:p>
            <a:pPr marL="731837" lvl="1" indent="-342900" defTabSz="914400">
              <a:lnSpc>
                <a:spcPct val="90000"/>
              </a:lnSpc>
            </a:pPr>
            <a:r>
              <a:rPr lang="en-US" sz="1600" dirty="0" smtClean="0"/>
              <a:t>Daniel Hernandez,  Patent Agent/Engineer</a:t>
            </a:r>
          </a:p>
          <a:p>
            <a:pPr marL="731837" lvl="1" indent="-342900" defTabSz="914400">
              <a:lnSpc>
                <a:spcPct val="90000"/>
              </a:lnSpc>
            </a:pPr>
            <a:r>
              <a:rPr lang="en-US" sz="1600" dirty="0" smtClean="0"/>
              <a:t>Speaker/Topic: TBD</a:t>
            </a:r>
          </a:p>
          <a:p>
            <a:pPr marL="731837" lvl="1" indent="-342900" defTabSz="914400">
              <a:lnSpc>
                <a:spcPct val="90000"/>
              </a:lnSpc>
            </a:pPr>
            <a:endParaRPr lang="en-US" sz="1600" dirty="0" smtClean="0"/>
          </a:p>
          <a:p>
            <a:pPr marL="731837" lvl="1" indent="-342900" defTabSz="914400">
              <a:lnSpc>
                <a:spcPct val="90000"/>
              </a:lnSpc>
            </a:pPr>
            <a:endParaRPr lang="en-US" sz="1600" dirty="0" smtClean="0"/>
          </a:p>
          <a:p>
            <a:pPr marL="731837" lvl="1" indent="-342900" defTabSz="914400">
              <a:lnSpc>
                <a:spcPct val="90000"/>
              </a:lnSpc>
            </a:pPr>
            <a:endParaRPr lang="en-US" sz="1600" dirty="0" smtClean="0"/>
          </a:p>
          <a:p>
            <a:pPr marL="731837" lvl="1" indent="-342900" defTabSz="914400">
              <a:lnSpc>
                <a:spcPct val="90000"/>
              </a:lnSpc>
            </a:pPr>
            <a:endParaRPr lang="en-US" sz="16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Lectures Spring 2016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185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39700" y="1015999"/>
            <a:ext cx="5627688" cy="3008393"/>
          </a:xfrm>
        </p:spPr>
        <p:txBody>
          <a:bodyPr/>
          <a:lstStyle/>
          <a:p>
            <a:pPr marL="342900" indent="-342900" defTabSz="914400">
              <a:lnSpc>
                <a:spcPct val="90000"/>
              </a:lnSpc>
            </a:pPr>
            <a:r>
              <a:rPr lang="en-US" sz="1900" b="1" dirty="0" smtClean="0"/>
              <a:t>Wednesdays  3:00- 3:35pm</a:t>
            </a:r>
            <a:endParaRPr lang="en-US" sz="1900" b="1" dirty="0"/>
          </a:p>
          <a:p>
            <a:pPr marL="731837" lvl="1" indent="-342900" defTabSz="914400">
              <a:lnSpc>
                <a:spcPct val="90000"/>
              </a:lnSpc>
            </a:pPr>
            <a:r>
              <a:rPr lang="en-US" sz="1600" dirty="0"/>
              <a:t>Periodically during the </a:t>
            </a:r>
            <a:r>
              <a:rPr lang="en-US" sz="1600" dirty="0" smtClean="0"/>
              <a:t>semester (4 to 5) </a:t>
            </a:r>
            <a:endParaRPr lang="en-US" sz="1600" dirty="0"/>
          </a:p>
          <a:p>
            <a:pPr marL="731837" lvl="1" indent="-342900" defTabSz="914400">
              <a:lnSpc>
                <a:spcPct val="90000"/>
              </a:lnSpc>
            </a:pPr>
            <a:r>
              <a:rPr lang="en-US" sz="1600" dirty="0"/>
              <a:t>Specific days will be announced at least one week in </a:t>
            </a:r>
            <a:r>
              <a:rPr lang="en-US" sz="1600" dirty="0" smtClean="0"/>
              <a:t>advance</a:t>
            </a:r>
          </a:p>
          <a:p>
            <a:pPr marL="342900" indent="-342900" defTabSz="914400">
              <a:lnSpc>
                <a:spcPct val="90000"/>
              </a:lnSpc>
            </a:pPr>
            <a:r>
              <a:rPr lang="en-US" sz="1900" dirty="0" smtClean="0"/>
              <a:t>Possible speakers/topics:</a:t>
            </a:r>
          </a:p>
          <a:p>
            <a:pPr marL="731837" lvl="1" indent="-342900" defTabSz="914400">
              <a:lnSpc>
                <a:spcPct val="90000"/>
              </a:lnSpc>
            </a:pPr>
            <a:r>
              <a:rPr lang="en-US" sz="1600" dirty="0" smtClean="0"/>
              <a:t>Tom Cicero, UIC Engineering Career Office</a:t>
            </a:r>
          </a:p>
          <a:p>
            <a:pPr marL="731837" lvl="1" indent="-342900" defTabSz="914400">
              <a:lnSpc>
                <a:spcPct val="90000"/>
              </a:lnSpc>
            </a:pPr>
            <a:r>
              <a:rPr lang="en-US" sz="1600" dirty="0" smtClean="0"/>
              <a:t>Said Al-</a:t>
            </a:r>
            <a:r>
              <a:rPr lang="en-US" sz="1600" dirty="0" err="1" smtClean="0"/>
              <a:t>Hallaj</a:t>
            </a:r>
            <a:r>
              <a:rPr lang="en-US" sz="1600" dirty="0" smtClean="0"/>
              <a:t> (</a:t>
            </a:r>
            <a:r>
              <a:rPr lang="en-US" sz="1600" dirty="0" err="1" smtClean="0"/>
              <a:t>AllCell</a:t>
            </a:r>
            <a:r>
              <a:rPr lang="en-US" sz="1600" dirty="0" smtClean="0"/>
              <a:t> Technologies)</a:t>
            </a:r>
          </a:p>
          <a:p>
            <a:pPr marL="731837" lvl="1" indent="-342900" defTabSz="914400">
              <a:lnSpc>
                <a:spcPct val="90000"/>
              </a:lnSpc>
            </a:pPr>
            <a:r>
              <a:rPr lang="en-US" sz="1600" dirty="0" smtClean="0"/>
              <a:t>Daniel Hernandez,  Patent Agent/Engineer</a:t>
            </a:r>
          </a:p>
          <a:p>
            <a:pPr marL="731837" lvl="1" indent="-342900" defTabSz="914400">
              <a:lnSpc>
                <a:spcPct val="90000"/>
              </a:lnSpc>
            </a:pPr>
            <a:r>
              <a:rPr lang="en-US" sz="1600" dirty="0" err="1" smtClean="0"/>
              <a:t>Arwa</a:t>
            </a:r>
            <a:r>
              <a:rPr lang="en-US" sz="1600" dirty="0" smtClean="0"/>
              <a:t> Hasan, Navistar</a:t>
            </a:r>
          </a:p>
          <a:p>
            <a:pPr marL="731837" lvl="1" indent="-342900" defTabSz="914400">
              <a:lnSpc>
                <a:spcPct val="90000"/>
              </a:lnSpc>
            </a:pPr>
            <a:r>
              <a:rPr lang="en-US" sz="1600" dirty="0" smtClean="0"/>
              <a:t>Pedro Lopez, Spraying Systems, Inc.</a:t>
            </a:r>
          </a:p>
          <a:p>
            <a:pPr marL="731837" lvl="1" indent="-342900" defTabSz="914400">
              <a:lnSpc>
                <a:spcPct val="90000"/>
              </a:lnSpc>
            </a:pPr>
            <a:r>
              <a:rPr lang="en-US" sz="1600" dirty="0" smtClean="0"/>
              <a:t>Elizabeth Carter, UOP</a:t>
            </a:r>
          </a:p>
          <a:p>
            <a:pPr marL="731837" lvl="1" indent="-342900" defTabSz="914400">
              <a:lnSpc>
                <a:spcPct val="90000"/>
              </a:lnSpc>
            </a:pPr>
            <a:endParaRPr lang="en-US" sz="1600" dirty="0" smtClean="0"/>
          </a:p>
          <a:p>
            <a:pPr marL="731837" lvl="1" indent="-342900" defTabSz="914400">
              <a:lnSpc>
                <a:spcPct val="90000"/>
              </a:lnSpc>
            </a:pPr>
            <a:endParaRPr lang="en-US" sz="1600" dirty="0" smtClean="0"/>
          </a:p>
          <a:p>
            <a:pPr marL="731837" lvl="1" indent="-342900" defTabSz="914400">
              <a:lnSpc>
                <a:spcPct val="90000"/>
              </a:lnSpc>
            </a:pPr>
            <a:endParaRPr lang="en-US" sz="1600" dirty="0" smtClean="0"/>
          </a:p>
          <a:p>
            <a:pPr marL="731837" lvl="1" indent="-342900" defTabSz="914400">
              <a:lnSpc>
                <a:spcPct val="90000"/>
              </a:lnSpc>
            </a:pPr>
            <a:endParaRPr lang="en-US" sz="1600" dirty="0" smtClean="0"/>
          </a:p>
          <a:p>
            <a:pPr marL="731837" lvl="1" indent="-342900" defTabSz="914400">
              <a:lnSpc>
                <a:spcPct val="90000"/>
              </a:lnSpc>
            </a:pPr>
            <a:endParaRPr lang="en-US" sz="16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Lectures Fall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268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0543" y="475222"/>
            <a:ext cx="5751718" cy="3717752"/>
          </a:xfrm>
        </p:spPr>
        <p:txBody>
          <a:bodyPr/>
          <a:lstStyle/>
          <a:p>
            <a:pPr marL="342900" indent="-342900" defTabSz="914400">
              <a:lnSpc>
                <a:spcPct val="90000"/>
              </a:lnSpc>
            </a:pPr>
            <a:r>
              <a:rPr lang="en-US" sz="1900" b="1" dirty="0" smtClean="0"/>
              <a:t>Wednesdays  12:00 – 12:50pm CEB 230</a:t>
            </a:r>
            <a:endParaRPr lang="en-US" sz="1900" b="1" dirty="0"/>
          </a:p>
          <a:p>
            <a:pPr marL="0" indent="0" defTabSz="914400">
              <a:lnSpc>
                <a:spcPct val="90000"/>
              </a:lnSpc>
              <a:buNone/>
            </a:pPr>
            <a:endParaRPr lang="en-US" sz="1900" dirty="0" smtClean="0"/>
          </a:p>
          <a:p>
            <a:pPr marL="388937" lvl="1" indent="0" defTabSz="914400">
              <a:lnSpc>
                <a:spcPct val="90000"/>
              </a:lnSpc>
              <a:buNone/>
            </a:pPr>
            <a:r>
              <a:rPr lang="en-US" sz="1400" dirty="0" smtClean="0"/>
              <a:t>September 5: Patrick Devanney, UIC Engineering Career Office</a:t>
            </a:r>
          </a:p>
          <a:p>
            <a:pPr marL="388937" lvl="1" indent="0" defTabSz="914400">
              <a:lnSpc>
                <a:spcPct val="90000"/>
              </a:lnSpc>
              <a:buNone/>
            </a:pPr>
            <a:r>
              <a:rPr lang="en-US" sz="1400" dirty="0" smtClean="0"/>
              <a:t>September 12: Brian Guthrie, Cargill, Food Industry</a:t>
            </a:r>
          </a:p>
          <a:p>
            <a:pPr marL="388937" lvl="1" indent="0" defTabSz="914400">
              <a:lnSpc>
                <a:spcPct val="90000"/>
              </a:lnSpc>
              <a:buNone/>
            </a:pPr>
            <a:r>
              <a:rPr lang="en-US" sz="1400" dirty="0" smtClean="0"/>
              <a:t>October 10:  George </a:t>
            </a:r>
            <a:r>
              <a:rPr lang="en-US" sz="1400" dirty="0" err="1" smtClean="0"/>
              <a:t>Foutou</a:t>
            </a:r>
            <a:r>
              <a:rPr lang="en-US" sz="1400" dirty="0" smtClean="0"/>
              <a:t>, Cabot Microelectronics</a:t>
            </a:r>
          </a:p>
          <a:p>
            <a:pPr marL="388937" lvl="1" indent="0" defTabSz="914400">
              <a:lnSpc>
                <a:spcPct val="90000"/>
              </a:lnSpc>
              <a:buNone/>
            </a:pPr>
            <a:r>
              <a:rPr lang="en-US" sz="1400" dirty="0" smtClean="0"/>
              <a:t>October 17: </a:t>
            </a:r>
            <a:r>
              <a:rPr lang="en-US" sz="1400" dirty="0" err="1" smtClean="0"/>
              <a:t>Lissa</a:t>
            </a:r>
            <a:r>
              <a:rPr lang="en-US" sz="1400" dirty="0" smtClean="0"/>
              <a:t> </a:t>
            </a:r>
            <a:r>
              <a:rPr lang="en-US" sz="1400" dirty="0"/>
              <a:t>Aquino, </a:t>
            </a:r>
            <a:r>
              <a:rPr lang="en-US" sz="1400" dirty="0" err="1"/>
              <a:t>Stepan</a:t>
            </a:r>
            <a:r>
              <a:rPr lang="en-US" sz="1400" dirty="0"/>
              <a:t> Chemicals </a:t>
            </a:r>
            <a:r>
              <a:rPr lang="en-US" sz="1400" dirty="0" smtClean="0"/>
              <a:t>Safety/Environment</a:t>
            </a:r>
          </a:p>
          <a:p>
            <a:pPr marL="388937" lvl="1" indent="0" defTabSz="914400">
              <a:lnSpc>
                <a:spcPct val="90000"/>
              </a:lnSpc>
              <a:buNone/>
            </a:pPr>
            <a:r>
              <a:rPr lang="en-US" sz="1400" dirty="0" smtClean="0"/>
              <a:t>October 24: </a:t>
            </a:r>
            <a:r>
              <a:rPr lang="en-US" sz="1400" dirty="0"/>
              <a:t>Elizabeth Carter, UOP, Oil/Gas </a:t>
            </a:r>
            <a:r>
              <a:rPr lang="en-US" sz="1400" dirty="0" smtClean="0"/>
              <a:t>Processing</a:t>
            </a:r>
          </a:p>
          <a:p>
            <a:pPr marL="388937" lvl="1" indent="0" defTabSz="914400">
              <a:lnSpc>
                <a:spcPct val="90000"/>
              </a:lnSpc>
              <a:buNone/>
            </a:pPr>
            <a:r>
              <a:rPr lang="en-US" sz="1400" dirty="0" smtClean="0"/>
              <a:t>October 31: Lynette Hernandez, Nestle USA, Food</a:t>
            </a:r>
          </a:p>
          <a:p>
            <a:pPr marL="388937" lvl="1" indent="0" defTabSz="914400">
              <a:lnSpc>
                <a:spcPct val="90000"/>
              </a:lnSpc>
              <a:buNone/>
            </a:pPr>
            <a:r>
              <a:rPr lang="en-US" sz="1400" dirty="0" smtClean="0"/>
              <a:t>November 7</a:t>
            </a:r>
            <a:r>
              <a:rPr lang="en-US" sz="1400" baseline="30000" dirty="0" smtClean="0"/>
              <a:t>:</a:t>
            </a:r>
            <a:r>
              <a:rPr lang="en-US" sz="1400" dirty="0" smtClean="0"/>
              <a:t> Said Al-</a:t>
            </a:r>
            <a:r>
              <a:rPr lang="en-US" sz="1400" dirty="0" err="1" smtClean="0"/>
              <a:t>Hallaj</a:t>
            </a:r>
            <a:r>
              <a:rPr lang="en-US" sz="1400" dirty="0" smtClean="0"/>
              <a:t>, </a:t>
            </a:r>
            <a:r>
              <a:rPr lang="en-US" sz="1400" dirty="0" err="1" smtClean="0"/>
              <a:t>AllCell</a:t>
            </a:r>
            <a:r>
              <a:rPr lang="en-US" sz="1400" dirty="0" smtClean="0"/>
              <a:t> Technologies, </a:t>
            </a:r>
            <a:r>
              <a:rPr lang="en-US" sz="1400" dirty="0" err="1" smtClean="0"/>
              <a:t>Entrepeneurship</a:t>
            </a:r>
            <a:endParaRPr lang="en-US" sz="1400" dirty="0" smtClean="0"/>
          </a:p>
          <a:p>
            <a:pPr marL="388937" lvl="1" indent="0" defTabSz="914400">
              <a:lnSpc>
                <a:spcPct val="90000"/>
              </a:lnSpc>
              <a:buNone/>
            </a:pPr>
            <a:r>
              <a:rPr lang="en-US" sz="1400" dirty="0" smtClean="0"/>
              <a:t>November 21: </a:t>
            </a:r>
            <a:r>
              <a:rPr lang="en-US" sz="1400" dirty="0"/>
              <a:t>Anastasia </a:t>
            </a:r>
            <a:r>
              <a:rPr lang="en-US" sz="1400" dirty="0" err="1"/>
              <a:t>Vaia</a:t>
            </a:r>
            <a:r>
              <a:rPr lang="en-US" sz="1400" dirty="0"/>
              <a:t>, BP Aromatics Technologies December </a:t>
            </a:r>
            <a:r>
              <a:rPr lang="en-US" sz="1400" dirty="0" smtClean="0"/>
              <a:t>5: Thomas </a:t>
            </a:r>
            <a:r>
              <a:rPr lang="en-US" sz="1400" dirty="0" err="1" smtClean="0"/>
              <a:t>Scheller</a:t>
            </a:r>
            <a:r>
              <a:rPr lang="en-US" sz="1400" dirty="0" smtClean="0"/>
              <a:t>, </a:t>
            </a:r>
            <a:r>
              <a:rPr lang="en-US" sz="1400" dirty="0" err="1" smtClean="0"/>
              <a:t>ProLeiT</a:t>
            </a:r>
            <a:r>
              <a:rPr lang="en-US" sz="1400" dirty="0" smtClean="0"/>
              <a:t>, Process Control, Food</a:t>
            </a:r>
            <a:endParaRPr lang="en-US" sz="1600" dirty="0" smtClean="0"/>
          </a:p>
          <a:p>
            <a:pPr marL="731837" lvl="1" indent="-342900" defTabSz="914400">
              <a:lnSpc>
                <a:spcPct val="90000"/>
              </a:lnSpc>
            </a:pPr>
            <a:endParaRPr lang="en-US" sz="1600" dirty="0" smtClean="0"/>
          </a:p>
          <a:p>
            <a:pPr marL="731837" lvl="1" indent="-342900" defTabSz="914400">
              <a:lnSpc>
                <a:spcPct val="90000"/>
              </a:lnSpc>
            </a:pPr>
            <a:endParaRPr lang="en-US" sz="1600" dirty="0" smtClean="0"/>
          </a:p>
          <a:p>
            <a:pPr marL="731837" lvl="1" indent="-342900" defTabSz="914400">
              <a:lnSpc>
                <a:spcPct val="90000"/>
              </a:lnSpc>
            </a:pPr>
            <a:endParaRPr lang="en-US" sz="1600" dirty="0" smtClean="0"/>
          </a:p>
          <a:p>
            <a:pPr marL="731837" lvl="1" indent="-342900" defTabSz="914400">
              <a:lnSpc>
                <a:spcPct val="90000"/>
              </a:lnSpc>
            </a:pPr>
            <a:endParaRPr lang="en-US" sz="1600" dirty="0" smtClean="0"/>
          </a:p>
          <a:p>
            <a:pPr marL="731837" lvl="1" indent="-342900" defTabSz="914400">
              <a:lnSpc>
                <a:spcPct val="90000"/>
              </a:lnSpc>
            </a:pPr>
            <a:endParaRPr lang="en-US" sz="16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7650" y="108970"/>
            <a:ext cx="5462588" cy="366252"/>
          </a:xfrm>
        </p:spPr>
        <p:txBody>
          <a:bodyPr/>
          <a:lstStyle/>
          <a:p>
            <a:r>
              <a:rPr lang="en-US" dirty="0" smtClean="0"/>
              <a:t>Fall 2018</a:t>
            </a:r>
            <a:r>
              <a:rPr lang="en-US" dirty="0" smtClean="0"/>
              <a:t> </a:t>
            </a:r>
            <a:r>
              <a:rPr lang="en-US" dirty="0" smtClean="0"/>
              <a:t>Seminar Dates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112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0543" y="475222"/>
            <a:ext cx="5751718" cy="3717752"/>
          </a:xfrm>
        </p:spPr>
        <p:txBody>
          <a:bodyPr/>
          <a:lstStyle/>
          <a:p>
            <a:pPr marL="342900" indent="-342900" defTabSz="914400">
              <a:lnSpc>
                <a:spcPct val="90000"/>
              </a:lnSpc>
            </a:pPr>
            <a:r>
              <a:rPr lang="en-US" sz="1900" b="1" dirty="0"/>
              <a:t>Friday 12noon- 12:30pm EIB Room 124</a:t>
            </a:r>
          </a:p>
          <a:p>
            <a:pPr marL="0" indent="0" defTabSz="914400">
              <a:lnSpc>
                <a:spcPct val="90000"/>
              </a:lnSpc>
              <a:buNone/>
            </a:pPr>
            <a:endParaRPr lang="en-US" sz="1900" dirty="0"/>
          </a:p>
          <a:p>
            <a:pPr marL="388937" lvl="1" indent="0" defTabSz="914400">
              <a:lnSpc>
                <a:spcPct val="90000"/>
              </a:lnSpc>
              <a:buNone/>
            </a:pPr>
            <a:r>
              <a:rPr lang="en-US" sz="1400" dirty="0"/>
              <a:t>September 13: Jonna McHugh, UIC Engineering Career Center</a:t>
            </a:r>
          </a:p>
          <a:p>
            <a:pPr marL="388937" lvl="1" indent="0" defTabSz="914400">
              <a:lnSpc>
                <a:spcPct val="90000"/>
              </a:lnSpc>
              <a:buNone/>
            </a:pPr>
            <a:r>
              <a:rPr lang="en-US" sz="1400" dirty="0"/>
              <a:t>September 27:  Kevin </a:t>
            </a:r>
            <a:r>
              <a:rPr lang="en-US" sz="1400" dirty="0" err="1"/>
              <a:t>Meaux</a:t>
            </a:r>
            <a:r>
              <a:rPr lang="en-US" sz="1400" dirty="0"/>
              <a:t>, </a:t>
            </a:r>
            <a:r>
              <a:rPr lang="en-US" sz="1400" dirty="0" err="1"/>
              <a:t>Harbour</a:t>
            </a:r>
            <a:r>
              <a:rPr lang="en-US" sz="1400" dirty="0"/>
              <a:t> Contractors</a:t>
            </a:r>
          </a:p>
          <a:p>
            <a:pPr marL="388937" lvl="1" indent="0" defTabSz="914400">
              <a:lnSpc>
                <a:spcPct val="90000"/>
              </a:lnSpc>
              <a:buNone/>
            </a:pPr>
            <a:r>
              <a:rPr lang="en-US" sz="1400" dirty="0"/>
              <a:t>October 4: </a:t>
            </a:r>
            <a:r>
              <a:rPr lang="en-US" sz="1400" dirty="0" err="1"/>
              <a:t>Lissa</a:t>
            </a:r>
            <a:r>
              <a:rPr lang="en-US" sz="1400" dirty="0"/>
              <a:t> Aquino, </a:t>
            </a:r>
            <a:r>
              <a:rPr lang="en-US" sz="1400" dirty="0" err="1"/>
              <a:t>Stepan</a:t>
            </a:r>
            <a:r>
              <a:rPr lang="en-US" sz="1400" dirty="0"/>
              <a:t> Chemicals Safety/Environment</a:t>
            </a:r>
          </a:p>
          <a:p>
            <a:pPr marL="388937" lvl="1" indent="0" defTabSz="914400">
              <a:lnSpc>
                <a:spcPct val="90000"/>
              </a:lnSpc>
              <a:buNone/>
            </a:pPr>
            <a:r>
              <a:rPr lang="en-US" sz="1400" dirty="0"/>
              <a:t>October 11:  George </a:t>
            </a:r>
            <a:r>
              <a:rPr lang="en-US" sz="1400" dirty="0" err="1"/>
              <a:t>Foutou</a:t>
            </a:r>
            <a:r>
              <a:rPr lang="en-US" sz="1400" dirty="0"/>
              <a:t>, Cabot Microelectronics</a:t>
            </a:r>
          </a:p>
          <a:p>
            <a:pPr marL="388937" lvl="1" indent="0" defTabSz="914400">
              <a:lnSpc>
                <a:spcPct val="90000"/>
              </a:lnSpc>
              <a:buNone/>
            </a:pPr>
            <a:r>
              <a:rPr lang="en-US" sz="1400" dirty="0"/>
              <a:t>October 18: Ryan </a:t>
            </a:r>
            <a:r>
              <a:rPr lang="en-US" sz="1400" dirty="0" err="1"/>
              <a:t>Neris</a:t>
            </a:r>
            <a:r>
              <a:rPr lang="en-US" sz="1400" dirty="0"/>
              <a:t>, </a:t>
            </a:r>
            <a:r>
              <a:rPr lang="en-US" sz="1400" dirty="0" err="1"/>
              <a:t>ErgoSeal</a:t>
            </a:r>
            <a:endParaRPr lang="en-US" sz="1400" dirty="0"/>
          </a:p>
          <a:p>
            <a:pPr marL="388937" lvl="1" indent="0" defTabSz="914400">
              <a:lnSpc>
                <a:spcPct val="90000"/>
              </a:lnSpc>
              <a:buNone/>
            </a:pPr>
            <a:r>
              <a:rPr lang="en-US" sz="1400" dirty="0"/>
              <a:t>October 25: Jonna McHugh, UIC Engineering Career Center</a:t>
            </a:r>
          </a:p>
          <a:p>
            <a:pPr marL="388937" lvl="1" indent="0" defTabSz="914400">
              <a:lnSpc>
                <a:spcPct val="90000"/>
              </a:lnSpc>
              <a:buNone/>
            </a:pPr>
            <a:r>
              <a:rPr lang="en-US" sz="1400"/>
              <a:t>November </a:t>
            </a:r>
            <a:r>
              <a:rPr lang="en-US" sz="1400" dirty="0"/>
              <a:t>8: </a:t>
            </a:r>
            <a:r>
              <a:rPr lang="en-US" sz="1400"/>
              <a:t>Rick Burns, </a:t>
            </a:r>
            <a:r>
              <a:rPr lang="en-US" sz="1400" dirty="0" err="1"/>
              <a:t>Tetrapak</a:t>
            </a:r>
            <a:endParaRPr lang="en-US" sz="1400" dirty="0"/>
          </a:p>
          <a:p>
            <a:pPr marL="388937" lvl="1" indent="0" defTabSz="914400">
              <a:lnSpc>
                <a:spcPct val="90000"/>
              </a:lnSpc>
              <a:buNone/>
            </a:pPr>
            <a:r>
              <a:rPr lang="en-US" sz="1400" dirty="0"/>
              <a:t>November 15: Said Al-Hallaj, </a:t>
            </a:r>
            <a:r>
              <a:rPr lang="en-US" sz="1400" dirty="0" err="1"/>
              <a:t>AllCell</a:t>
            </a:r>
            <a:r>
              <a:rPr lang="en-US" sz="1400" dirty="0"/>
              <a:t> Technology</a:t>
            </a:r>
          </a:p>
          <a:p>
            <a:pPr marL="388937" lvl="1" indent="0" defTabSz="914400">
              <a:lnSpc>
                <a:spcPct val="90000"/>
              </a:lnSpc>
              <a:buNone/>
            </a:pPr>
            <a:r>
              <a:rPr lang="en-US" sz="1400" dirty="0"/>
              <a:t>November 22: Gavin </a:t>
            </a:r>
            <a:r>
              <a:rPr lang="en-US" sz="1400" dirty="0" err="1"/>
              <a:t>Towler</a:t>
            </a:r>
            <a:r>
              <a:rPr lang="en-US" sz="1400" dirty="0"/>
              <a:t>, UOP, Oil/Gas Processing</a:t>
            </a:r>
          </a:p>
          <a:p>
            <a:pPr marL="388937" lvl="1" indent="0" defTabSz="914400">
              <a:lnSpc>
                <a:spcPct val="90000"/>
              </a:lnSpc>
              <a:buNone/>
            </a:pPr>
            <a:r>
              <a:rPr lang="en-US" sz="1400" dirty="0"/>
              <a:t>December 6: Elizabeth Carter, UOP, Oil/Gas Processing</a:t>
            </a:r>
            <a:endParaRPr lang="en-US" sz="1600" dirty="0"/>
          </a:p>
          <a:p>
            <a:pPr marL="731837" lvl="1" indent="-342900" defTabSz="914400">
              <a:lnSpc>
                <a:spcPct val="90000"/>
              </a:lnSpc>
            </a:pPr>
            <a:endParaRPr lang="en-US" sz="1600" dirty="0"/>
          </a:p>
          <a:p>
            <a:pPr marL="731837" lvl="1" indent="-342900" defTabSz="914400">
              <a:lnSpc>
                <a:spcPct val="90000"/>
              </a:lnSpc>
            </a:pPr>
            <a:endParaRPr lang="en-US" sz="1600" dirty="0"/>
          </a:p>
          <a:p>
            <a:pPr marL="731837" lvl="1" indent="-342900" defTabSz="914400">
              <a:lnSpc>
                <a:spcPct val="90000"/>
              </a:lnSpc>
            </a:pPr>
            <a:endParaRPr lang="en-US" sz="16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7650" y="108970"/>
            <a:ext cx="5462588" cy="366252"/>
          </a:xfrm>
        </p:spPr>
        <p:txBody>
          <a:bodyPr/>
          <a:lstStyle/>
          <a:p>
            <a:r>
              <a:rPr lang="en-US" dirty="0" smtClean="0"/>
              <a:t>Fall 2019</a:t>
            </a:r>
            <a:r>
              <a:rPr lang="en-US" dirty="0" smtClean="0"/>
              <a:t> </a:t>
            </a:r>
            <a:r>
              <a:rPr lang="en-US" dirty="0"/>
              <a:t>Seminar Dates</a:t>
            </a:r>
          </a:p>
        </p:txBody>
      </p:sp>
    </p:spTree>
    <p:extLst>
      <p:ext uri="{BB962C8B-B14F-4D97-AF65-F5344CB8AC3E}">
        <p14:creationId xmlns:p14="http://schemas.microsoft.com/office/powerpoint/2010/main" val="1311034228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_F05">
  <a:themeElements>
    <a:clrScheme name="">
      <a:dk1>
        <a:srgbClr val="000000"/>
      </a:dk1>
      <a:lt1>
        <a:srgbClr val="FFFFFF"/>
      </a:lt1>
      <a:dk2>
        <a:srgbClr val="000000"/>
      </a:dk2>
      <a:lt2>
        <a:srgbClr val="00279F"/>
      </a:lt2>
      <a:accent1>
        <a:srgbClr val="F57B49"/>
      </a:accent1>
      <a:accent2>
        <a:srgbClr val="FF0000"/>
      </a:accent2>
      <a:accent3>
        <a:srgbClr val="FFFFFF"/>
      </a:accent3>
      <a:accent4>
        <a:srgbClr val="000000"/>
      </a:accent4>
      <a:accent5>
        <a:srgbClr val="F9BFB1"/>
      </a:accent5>
      <a:accent6>
        <a:srgbClr val="E70000"/>
      </a:accent6>
      <a:hlink>
        <a:srgbClr val="FF0033"/>
      </a:hlink>
      <a:folHlink>
        <a:srgbClr val="919191"/>
      </a:folHlink>
    </a:clrScheme>
    <a:fontScheme name="template_F0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template_F05 1">
        <a:dk1>
          <a:srgbClr val="000000"/>
        </a:dk1>
        <a:lt1>
          <a:srgbClr val="DADADA"/>
        </a:lt1>
        <a:dk2>
          <a:srgbClr val="000000"/>
        </a:dk2>
        <a:lt2>
          <a:srgbClr val="00279F"/>
        </a:lt2>
        <a:accent1>
          <a:srgbClr val="F57B49"/>
        </a:accent1>
        <a:accent2>
          <a:srgbClr val="DADADA"/>
        </a:accent2>
        <a:accent3>
          <a:srgbClr val="EAEAEA"/>
        </a:accent3>
        <a:accent4>
          <a:srgbClr val="000000"/>
        </a:accent4>
        <a:accent5>
          <a:srgbClr val="F9BFB1"/>
        </a:accent5>
        <a:accent6>
          <a:srgbClr val="C5C5C5"/>
        </a:accent6>
        <a:hlink>
          <a:srgbClr val="FF0000"/>
        </a:hlink>
        <a:folHlink>
          <a:srgbClr val="91919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_F05 2">
        <a:dk1>
          <a:srgbClr val="000000"/>
        </a:dk1>
        <a:lt1>
          <a:srgbClr val="DDDDDD"/>
        </a:lt1>
        <a:dk2>
          <a:srgbClr val="000000"/>
        </a:dk2>
        <a:lt2>
          <a:srgbClr val="00279F"/>
        </a:lt2>
        <a:accent1>
          <a:srgbClr val="F57B49"/>
        </a:accent1>
        <a:accent2>
          <a:srgbClr val="DDDDDD"/>
        </a:accent2>
        <a:accent3>
          <a:srgbClr val="EBEBEB"/>
        </a:accent3>
        <a:accent4>
          <a:srgbClr val="000000"/>
        </a:accent4>
        <a:accent5>
          <a:srgbClr val="F9BFB1"/>
        </a:accent5>
        <a:accent6>
          <a:srgbClr val="C8C8C8"/>
        </a:accent6>
        <a:hlink>
          <a:srgbClr val="FF0000"/>
        </a:hlink>
        <a:folHlink>
          <a:srgbClr val="91919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_F05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_F05 4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_F05 5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_F05 6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_F05 7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_F05 8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_F05 9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11409</TotalTime>
  <Words>381</Words>
  <Application>Microsoft Office PowerPoint</Application>
  <PresentationFormat>Custom</PresentationFormat>
  <Paragraphs>71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Times New Roman</vt:lpstr>
      <vt:lpstr>Wingdings</vt:lpstr>
      <vt:lpstr>template_F05</vt:lpstr>
      <vt:lpstr>CHE499 Professional Development Seminar Instructor: Alan Zdunek  </vt:lpstr>
      <vt:lpstr>Lectures Spring 2015</vt:lpstr>
      <vt:lpstr>Lectures Spring 2016</vt:lpstr>
      <vt:lpstr>Lectures Fall 2017</vt:lpstr>
      <vt:lpstr>Fall 2018 Seminar Dates</vt:lpstr>
      <vt:lpstr>Fall 2019 Seminar Dates</vt:lpstr>
    </vt:vector>
  </TitlesOfParts>
  <Company>Dell Computer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CHE210 Material and Energy Balance</dc:title>
  <dc:creator>Alan Zdunek</dc:creator>
  <cp:lastModifiedBy>Alan Zdunek</cp:lastModifiedBy>
  <cp:revision>284</cp:revision>
  <cp:lastPrinted>1998-10-16T15:04:06Z</cp:lastPrinted>
  <dcterms:created xsi:type="dcterms:W3CDTF">1998-10-16T14:53:54Z</dcterms:created>
  <dcterms:modified xsi:type="dcterms:W3CDTF">2020-09-07T03:03:12Z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2</vt:i4>
  </property>
  <property fmtid="{D5CDD505-2E9C-101B-9397-08002B2CF9AE}" pid="4" name="Compression">
    <vt:i4>100</vt:i4>
  </property>
  <property fmtid="{D5CDD505-2E9C-101B-9397-08002B2CF9AE}" pid="5" name="ScreenSize">
    <vt:i4>1</vt:i4>
  </property>
  <property fmtid="{D5CDD505-2E9C-101B-9397-08002B2CF9AE}" pid="6" name="ScreenUsage">
    <vt:i4>3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1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C:\My Documents</vt:lpwstr>
  </property>
</Properties>
</file>