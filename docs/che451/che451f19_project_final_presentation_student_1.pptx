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Average"/>
      <p:regular r:id="rId24"/>
    </p:embeddedFont>
    <p:embeddedFont>
      <p:font typeface="Oswald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verage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swald-bold.fntdata"/><Relationship Id="rId25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6bdadb4c6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6bdadb4c6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6bdadb4c6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6bdadb4c6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a6d6cf1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a6d6cf1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6bdadb4c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6bdadb4c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7a6d6cf11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7a6d6cf11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6bdadb4c6e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6bdadb4c6e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7a6d6cf11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7a6d6cf11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6bdadb4c6e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6bdadb4c6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6bdadb4c6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6bdadb4c6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6bdadb4c6e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6bdadb4c6e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6bdadb4c6e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6bdadb4c6e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7a6d6cf11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7a6d6cf11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7a6d6cf11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7a6d6cf11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6bdadb4c6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6bdadb4c6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7a83de8de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7a83de8de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7a83de8de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7a83de8de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6bdadb4c6e_6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6bdadb4c6e_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push dir="r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4.jpg"/><Relationship Id="rId5" Type="http://schemas.openxmlformats.org/officeDocument/2006/relationships/image" Target="../media/image13.jp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www.comed.com/WaysToSave/ForYourBusiness/Pages/CollegesUniversities.aspx." TargetMode="External"/><Relationship Id="rId4" Type="http://schemas.openxmlformats.org/officeDocument/2006/relationships/hyperlink" Target="https://www.turbinegenerator.org/solar/illinois/chicago/" TargetMode="External"/><Relationship Id="rId11" Type="http://schemas.openxmlformats.org/officeDocument/2006/relationships/hyperlink" Target="http://www.globalpetrolprices.com/USA/Illinois/diesel_prices/" TargetMode="External"/><Relationship Id="rId10" Type="http://schemas.openxmlformats.org/officeDocument/2006/relationships/hyperlink" Target="https://resources.kohler.com/power/kohler/industrial/pdf/GSA_Product_List.pdf" TargetMode="External"/><Relationship Id="rId12" Type="http://schemas.openxmlformats.org/officeDocument/2006/relationships/hyperlink" Target="http://www.grainger.com/product/9MDM6?gclid=EAIaIQobChMI0aTEu-uF5gIVOINaBR2CegPTEAQYDCABEgLR0PD_BwE&amp;cm_mmc=PPC%3A%2BGoogle%2BPLA&amp;ef_id=EAIaIQobChMI0aTEu-uF5gIVOINaBR2CegPTEAQYDCABEgLR0PD_BwE%3AG%3As&amp;s_kwcid=AL%212966%213%21264955916135%21%21%21g%21438006005229%21" TargetMode="External"/><Relationship Id="rId9" Type="http://schemas.openxmlformats.org/officeDocument/2006/relationships/hyperlink" Target="http://resources.kohler.com/power/kohler/industrial/pdf/g5588.pdf?_ga=2.94447583.294529856.1574638722-1684978695.1574638722" TargetMode="External"/><Relationship Id="rId5" Type="http://schemas.openxmlformats.org/officeDocument/2006/relationships/hyperlink" Target="http://www.solarpowerrocks.com/solar-basics/how-much-electricity-does-a-solar-panel-produce/" TargetMode="External"/><Relationship Id="rId6" Type="http://schemas.openxmlformats.org/officeDocument/2006/relationships/hyperlink" Target="https://www.wholesalesolar.com/blog/battery-maintenance-tips/" TargetMode="External"/><Relationship Id="rId7" Type="http://schemas.openxmlformats.org/officeDocument/2006/relationships/hyperlink" Target="https://www.solar-electric.com/learning-center/solar-charge-controller-basics.html/" TargetMode="External"/><Relationship Id="rId8" Type="http://schemas.openxmlformats.org/officeDocument/2006/relationships/hyperlink" Target="http://www.worldstandards.eu/electricity/plug-voltage-by-country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researchgate.net/figure/Comparison-of-Fuel-Cell-Cost-Estimates-for-Stationary-and-Mobile-PEM-Fuel-Cell-Systems_tbl5_254703613" TargetMode="External"/><Relationship Id="rId4" Type="http://schemas.openxmlformats.org/officeDocument/2006/relationships/hyperlink" Target="https://www.researchgate.net/figure/Comparison-of-Fuel-Cell-Cost-Estimates-for-Stationary-and-Mobile-PEM-Fuel-Cell-Systems_tbl5_254703613" TargetMode="External"/><Relationship Id="rId10" Type="http://schemas.openxmlformats.org/officeDocument/2006/relationships/hyperlink" Target="https://www.solsystems.com/srec-customers/srec-basics-faq/" TargetMode="External"/><Relationship Id="rId9" Type="http://schemas.openxmlformats.org/officeDocument/2006/relationships/hyperlink" Target="https://netl.doe.gov/sites/default/files/netl-file/FCHandbook7.pdf" TargetMode="External"/><Relationship Id="rId5" Type="http://schemas.openxmlformats.org/officeDocument/2006/relationships/hyperlink" Target="https://www.relakhs.com/mutual-funds-taxation-rules-fy-2019-20-ay-2020-21/" TargetMode="External"/><Relationship Id="rId6" Type="http://schemas.openxmlformats.org/officeDocument/2006/relationships/hyperlink" Target="https://cafcp.org/content/cost-refill" TargetMode="External"/><Relationship Id="rId7" Type="http://schemas.openxmlformats.org/officeDocument/2006/relationships/hyperlink" Target="https://www.macrotrends.net/2540/platinum-prices-historical-chart-data" TargetMode="External"/><Relationship Id="rId8" Type="http://schemas.openxmlformats.org/officeDocument/2006/relationships/hyperlink" Target="https://www.macrotrends.net/2540/platinum-prices-historical-chart-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4001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Green - EIB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866650" y="3536200"/>
            <a:ext cx="3869400" cy="12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Ariel Maret, Diana Awimrin, Leena Daniel, Sherin Skariah, and Zainab Ahmed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3060" y="-1"/>
            <a:ext cx="3820938" cy="5094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5625" y="2851513"/>
            <a:ext cx="551450" cy="34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3500" y="2661500"/>
            <a:ext cx="7905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Why?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152475"/>
            <a:ext cx="8081400" cy="3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7B7B7"/>
                </a:solidFill>
              </a:rPr>
              <a:t>Goal : Design a renewable energy system for the new chemical engineering building to provide electricity during power outages</a:t>
            </a:r>
            <a:endParaRPr sz="1800">
              <a:solidFill>
                <a:srgbClr val="B7B7B7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" sz="1800">
                <a:solidFill>
                  <a:srgbClr val="B7B7B7"/>
                </a:solidFill>
              </a:rPr>
              <a:t>EIB uses electricity to operate the ventilation system</a:t>
            </a:r>
            <a:endParaRPr sz="1800">
              <a:solidFill>
                <a:srgbClr val="B7B7B7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" sz="1800">
                <a:solidFill>
                  <a:srgbClr val="B7B7B7"/>
                </a:solidFill>
              </a:rPr>
              <a:t>If there is a power outage, everyone must evacuate building due to ventilation</a:t>
            </a:r>
            <a:endParaRPr sz="1800">
              <a:solidFill>
                <a:srgbClr val="B7B7B7"/>
              </a:solidFill>
            </a:endParaRPr>
          </a:p>
          <a:p>
            <a:pPr indent="-3429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■"/>
            </a:pPr>
            <a:r>
              <a:rPr lang="en" sz="1800">
                <a:solidFill>
                  <a:srgbClr val="B7B7B7"/>
                </a:solidFill>
              </a:rPr>
              <a:t>Without ventilation, anyone could inhale hazardous chemicals.</a:t>
            </a:r>
            <a:endParaRPr sz="1800">
              <a:solidFill>
                <a:srgbClr val="B7B7B7"/>
              </a:solidFill>
            </a:endParaRPr>
          </a:p>
          <a:p>
            <a:pPr indent="-3429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■"/>
            </a:pPr>
            <a:r>
              <a:rPr lang="en" sz="1800">
                <a:solidFill>
                  <a:srgbClr val="B7B7B7"/>
                </a:solidFill>
              </a:rPr>
              <a:t>Staff and students all lose out time that could have been spent for important lectures, tests/quizzes, and work </a:t>
            </a:r>
            <a:endParaRPr sz="1800">
              <a:solidFill>
                <a:srgbClr val="B7B7B7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goal?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505700"/>
            <a:ext cx="85206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B7B7B7"/>
              </a:buClr>
              <a:buSzPts val="2200"/>
              <a:buChar char="●"/>
            </a:pPr>
            <a:r>
              <a:rPr lang="en" sz="2200">
                <a:solidFill>
                  <a:srgbClr val="B7B7B7"/>
                </a:solidFill>
              </a:rPr>
              <a:t>Produce electricity using existing photovoltaic cells</a:t>
            </a:r>
            <a:endParaRPr sz="2200">
              <a:solidFill>
                <a:srgbClr val="B7B7B7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B7B7B7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7B7B7"/>
              </a:buClr>
              <a:buSzPts val="2200"/>
              <a:buChar char="●"/>
            </a:pPr>
            <a:r>
              <a:rPr lang="en" sz="2200">
                <a:solidFill>
                  <a:srgbClr val="B7B7B7"/>
                </a:solidFill>
              </a:rPr>
              <a:t>­To store 6 hours worth of energy in the battery </a:t>
            </a:r>
            <a:endParaRPr sz="22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B7B7B7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7B7B7"/>
              </a:buClr>
              <a:buSzPts val="2200"/>
              <a:buChar char="●"/>
            </a:pPr>
            <a:r>
              <a:rPr lang="en" sz="2200">
                <a:solidFill>
                  <a:srgbClr val="B7B7B7"/>
                </a:solidFill>
              </a:rPr>
              <a:t>Use excess electricity produced for in EIB</a:t>
            </a:r>
            <a:endParaRPr sz="22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2200">
              <a:solidFill>
                <a:srgbClr val="B7B7B7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Used By EIB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Energy for 6 hours		19, 222 kW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Peak							5,640.00 kWh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Peak Occurred on: 30-Sep-19 11:30:00 AM CDT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*High Temp Hot Water and Chilled Water are produced at Co-Generation Plant and then distributed to UIC.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6825" y="375700"/>
            <a:ext cx="2043625" cy="20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Used By EIB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9200" y="149350"/>
            <a:ext cx="3057550" cy="4844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404600" y="1477275"/>
            <a:ext cx="44904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Building uses the most electricity on Tuesdays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Investigated only supplying power to certain panels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Each lab has their own panel (fume hood)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Main ventilation system in mechanical room.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8165450" y="4481150"/>
            <a:ext cx="8175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verage"/>
                <a:ea typeface="Average"/>
                <a:cs typeface="Average"/>
                <a:sym typeface="Average"/>
              </a:rPr>
              <a:t>{1}</a:t>
            </a:r>
            <a:endParaRPr sz="12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Photovoltaic Analysis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Solar Panels Used: 469 solar panels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Solar Array : 101.5 kW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Energy Produced by Solar Panels in a day: 446.6 kWh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Total Energy Produced by 469 Solar Panels: 101.5kW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Peak Hour in Chicago: 4.4 hours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Area these solar panels will need: 7,591 </a:t>
            </a:r>
            <a:r>
              <a:rPr lang="en"/>
              <a:t>ft</a:t>
            </a:r>
            <a:r>
              <a:rPr baseline="30000" lang="en"/>
              <a:t>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Area on EIB roof available: 9,856 ft</a:t>
            </a:r>
            <a:r>
              <a:rPr baseline="30000" lang="en"/>
              <a:t>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Maintenance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solar panels do not have much maintenance except for cleaning the tops, which can be done every three months.</a:t>
            </a:r>
            <a:endParaRPr baseline="30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72591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 rot="-1240445">
            <a:off x="972852" y="2307779"/>
            <a:ext cx="2607834" cy="14384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FF"/>
                </a:solidFill>
                <a:latin typeface="Average"/>
                <a:ea typeface="Average"/>
                <a:cs typeface="Average"/>
                <a:sym typeface="Average"/>
              </a:rPr>
              <a:t>Solar Panels Here</a:t>
            </a:r>
            <a:endParaRPr b="1" sz="1800">
              <a:solidFill>
                <a:srgbClr val="FF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-393275" y="2080175"/>
            <a:ext cx="59610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275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Photovoltaic Analysis Continued...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847700"/>
            <a:ext cx="8520600" cy="41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 of Battery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$9,611,250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 of Controller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$2,000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 of Inverter - Each panel already has their own microinverter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$1,400,000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 of Installation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$2,800,000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Total Cost of the system Upfront</a:t>
            </a:r>
            <a:endParaRPr b="1" sz="3000">
              <a:solidFill>
                <a:srgbClr val="CC0000"/>
              </a:solidFill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Char char="○"/>
            </a:pPr>
            <a:r>
              <a:rPr lang="en" sz="3000">
                <a:solidFill>
                  <a:srgbClr val="FF0000"/>
                </a:solidFill>
              </a:rPr>
              <a:t>$13,813,250</a:t>
            </a:r>
            <a:endParaRPr sz="3000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Total Life-Cycle Cost for the system</a:t>
            </a:r>
            <a:endParaRPr b="1"/>
          </a:p>
          <a:p>
            <a:pPr indent="-419100" lvl="1" marL="914400" rtl="0" algn="l">
              <a:spcBef>
                <a:spcPts val="0"/>
              </a:spcBef>
              <a:spcAft>
                <a:spcPts val="1600"/>
              </a:spcAft>
              <a:buClr>
                <a:srgbClr val="FF0000"/>
              </a:buClr>
              <a:buSzPts val="3000"/>
              <a:buChar char="○"/>
            </a:pPr>
            <a:r>
              <a:rPr lang="en" sz="3000">
                <a:solidFill>
                  <a:srgbClr val="FF0000"/>
                </a:solidFill>
              </a:rPr>
              <a:t>$38,445,000</a:t>
            </a:r>
            <a:endParaRPr b="1" sz="3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Solar REC’s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37350"/>
            <a:ext cx="8520600" cy="30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CCCCCC"/>
              </a:solidFill>
            </a:endParaRPr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Clr>
                <a:srgbClr val="CCCCCC"/>
              </a:buClr>
              <a:buSzPts val="2200"/>
              <a:buChar char="-"/>
            </a:pPr>
            <a:r>
              <a:rPr lang="en" sz="2200">
                <a:solidFill>
                  <a:srgbClr val="CCCCCC"/>
                </a:solidFill>
              </a:rPr>
              <a:t>Legislation in Illinois requires utilities to generate a certain percentage of their electricity from solar power</a:t>
            </a:r>
            <a:endParaRPr sz="2200">
              <a:solidFill>
                <a:srgbClr val="CCCCCC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200"/>
              <a:buChar char="-"/>
            </a:pPr>
            <a:r>
              <a:rPr lang="en" sz="2200">
                <a:solidFill>
                  <a:srgbClr val="CCCCCC"/>
                </a:solidFill>
              </a:rPr>
              <a:t>As of right now, UIC buys REC’s</a:t>
            </a:r>
            <a:endParaRPr sz="2200">
              <a:solidFill>
                <a:srgbClr val="CCCCCC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200"/>
              <a:buChar char="-"/>
            </a:pPr>
            <a:r>
              <a:rPr lang="en" sz="2200">
                <a:solidFill>
                  <a:srgbClr val="CCCCCC"/>
                </a:solidFill>
              </a:rPr>
              <a:t>Once UIC starts producing solar </a:t>
            </a:r>
            <a:r>
              <a:rPr lang="en" sz="2200">
                <a:solidFill>
                  <a:srgbClr val="CCCCCC"/>
                </a:solidFill>
              </a:rPr>
              <a:t>energy, REC’s fewer would need be bought</a:t>
            </a:r>
            <a:r>
              <a:rPr lang="en" sz="2200">
                <a:solidFill>
                  <a:srgbClr val="CCCCCC"/>
                </a:solidFill>
              </a:rPr>
              <a:t> </a:t>
            </a:r>
            <a:endParaRPr sz="2200">
              <a:solidFill>
                <a:srgbClr val="CCCCCC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200"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34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Alternatives</a:t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8975" y="1253225"/>
            <a:ext cx="2074424" cy="15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3000" y="1253225"/>
            <a:ext cx="2074430" cy="15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8975" y="3151200"/>
            <a:ext cx="2074424" cy="15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000" y="3151200"/>
            <a:ext cx="2074425" cy="155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/>
          <p:nvPr/>
        </p:nvSpPr>
        <p:spPr>
          <a:xfrm>
            <a:off x="1895125" y="859038"/>
            <a:ext cx="2822100" cy="2344200"/>
          </a:xfrm>
          <a:prstGeom prst="mathMultiply">
            <a:avLst>
              <a:gd fmla="val 2684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5079150" y="859038"/>
            <a:ext cx="2822100" cy="2344200"/>
          </a:xfrm>
          <a:prstGeom prst="mathMultiply">
            <a:avLst>
              <a:gd fmla="val 2684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/>
          <p:nvPr/>
        </p:nvSpPr>
        <p:spPr>
          <a:xfrm>
            <a:off x="1895125" y="2757013"/>
            <a:ext cx="2822100" cy="2344200"/>
          </a:xfrm>
          <a:prstGeom prst="mathMultiply">
            <a:avLst>
              <a:gd fmla="val 2684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5452950" y="2932963"/>
            <a:ext cx="2074500" cy="1992300"/>
          </a:xfrm>
          <a:prstGeom prst="ellipse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Fuel Cell Analysis</a:t>
            </a:r>
            <a:endParaRPr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 of Platinum = $940/troy ounce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Total: $84,622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 of hydrogen=$13.99/kg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Total Cost: $62,675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 of Storage = $21,535,595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BOP and Cell Stack Cost = $2,500/kW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Total: $24,227,545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675" y="3437796"/>
            <a:ext cx="1777000" cy="128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9350" y="179225"/>
            <a:ext cx="2171075" cy="217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/>
          <p:cNvPicPr preferRelativeResize="0"/>
          <p:nvPr/>
        </p:nvPicPr>
        <p:blipFill rotWithShape="1">
          <a:blip r:embed="rId5">
            <a:alphaModFix/>
          </a:blip>
          <a:srcRect b="5093" l="0" r="0" t="33838"/>
          <a:stretch/>
        </p:blipFill>
        <p:spPr>
          <a:xfrm>
            <a:off x="4299375" y="3027900"/>
            <a:ext cx="3593125" cy="169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Fuel Cell Analysis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4411200" cy="18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Installation = $2,240,000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Lifetime of 5,000 hours: Around 23 years at minimum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Fuel Cell Cost = $42,640,479</a:t>
            </a:r>
            <a:endParaRPr/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570" y="3597995"/>
            <a:ext cx="1211550" cy="121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4"/>
          <p:cNvSpPr/>
          <p:nvPr/>
        </p:nvSpPr>
        <p:spPr>
          <a:xfrm>
            <a:off x="4185138" y="4055850"/>
            <a:ext cx="773700" cy="29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3875" y="3416250"/>
            <a:ext cx="1211550" cy="157499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 txBox="1"/>
          <p:nvPr/>
        </p:nvSpPr>
        <p:spPr>
          <a:xfrm>
            <a:off x="5045550" y="1155363"/>
            <a:ext cx="39672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Total Upfront Cost in 2019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verage"/>
              <a:buChar char="○"/>
            </a:pPr>
            <a:r>
              <a:rPr lang="en" sz="24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$64,176,075</a:t>
            </a:r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311700" y="2571750"/>
            <a:ext cx="85206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FF00FF"/>
                </a:solidFill>
                <a:latin typeface="Average"/>
                <a:ea typeface="Average"/>
                <a:cs typeface="Average"/>
                <a:sym typeface="Average"/>
              </a:rPr>
              <a:t>Major contributor to price is hydrogen storage</a:t>
            </a:r>
            <a:endParaRPr sz="2400">
              <a:solidFill>
                <a:srgbClr val="FF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Diesel Generator Analysis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11700" y="1152475"/>
            <a:ext cx="5829300" cy="3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15 year life-span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Peak Power Usage EIB requires: 5,600 kWh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Kohler KD2800, 60 Hz: $1,062,000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$2,124,000 </a:t>
            </a:r>
            <a:endParaRPr>
              <a:solidFill>
                <a:srgbClr val="C27BA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Installation cost</a:t>
            </a:r>
            <a:r>
              <a:rPr lang="en"/>
              <a:t> generator</a:t>
            </a:r>
            <a:r>
              <a:rPr lang="en"/>
              <a:t> of 25kW - 30</a:t>
            </a:r>
            <a:r>
              <a:rPr lang="en"/>
              <a:t> </a:t>
            </a:r>
            <a:r>
              <a:rPr lang="en"/>
              <a:t>kW: $24,000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Scale up: $5,376,00</a:t>
            </a:r>
            <a:r>
              <a:rPr lang="en"/>
              <a:t>0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Operation and Maintenance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$20,045 </a:t>
            </a:r>
            <a:endParaRPr/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2737750"/>
            <a:ext cx="4286251" cy="2303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Diesel Generator Analysis 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311700" y="1152475"/>
            <a:ext cx="455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Fuel Consumption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$2.81 per gallon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 15 years: $1,106,519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Fuel Delivery: 13% of fuel cost per liter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$143,848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Fuel Storage Tank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$500 for a 300 gallon tank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Cost of Generator System Upfront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Char char="○"/>
            </a:pPr>
            <a:r>
              <a:rPr b="1" lang="en" sz="2400">
                <a:solidFill>
                  <a:srgbClr val="CC0000"/>
                </a:solidFill>
              </a:rPr>
              <a:t>$8,770,884</a:t>
            </a:r>
            <a:endParaRPr b="1" sz="2400">
              <a:solidFill>
                <a:srgbClr val="CC0000"/>
              </a:solidFill>
            </a:endParaRPr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2375" y="607450"/>
            <a:ext cx="3167325" cy="298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343850" y="22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311700" y="999400"/>
            <a:ext cx="85206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Diesel Price: $8,770,884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Fuel Cell price: $64,176,075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Photovoltaic</a:t>
            </a: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System Price for 10 years: $38,445,000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Without the installed solar system, 274 REC’s would need be bought over the next 15 years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cost savings from installed system = $20,000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 though diesel may be less expensive, UIC is reducing </a:t>
            </a: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its</a:t>
            </a: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carbon </a:t>
            </a: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footprint</a:t>
            </a: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by investing in renewable </a:t>
            </a: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energy</a:t>
            </a: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Savings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en">
                <a:solidFill>
                  <a:srgbClr val="CCCCCC"/>
                </a:solidFill>
              </a:rPr>
              <a:t>Without the installed solar system, 274 REC’s would need be bought over the next 15 years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-"/>
            </a:pPr>
            <a:r>
              <a:rPr lang="en">
                <a:solidFill>
                  <a:srgbClr val="CCCCCC"/>
                </a:solidFill>
              </a:rPr>
              <a:t>Total cost savings = $20,000</a:t>
            </a:r>
            <a:endParaRPr>
              <a:solidFill>
                <a:srgbClr val="CCCCCC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311700" y="1017725"/>
            <a:ext cx="81951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www.comed.com/WaysToSave/ForYourBusiness/Pages/CollegesUniversities.aspx.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https://www.turbinegenerator.org/solar/illinois/chicago/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www.solarpowerrocks.com/solar-basics/how-much-electricity-does-a-solar-panel-produce/</a:t>
            </a: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https://www.wholesalesolar.com/blog/battery-maintenance-tips/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https://www.solar-electric.com/learning-center/solar-charge-controller-basics.html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www.worldstandards.eu/electricity/plug-voltage-by-country/</a:t>
            </a:r>
            <a:r>
              <a:rPr lang="e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/>
              </a:rPr>
              <a:t>http://resources.kohler.com/power/kohler/industrial/pdf/g5588.pdf?_ga=2.94447583.294529856.1574638722-1684978695.1574638722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/>
              </a:rPr>
              <a:t>https://resources.kohler.com/power/kohler/industrial/pdf/GSA_Product_List.pdf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1"/>
              </a:rPr>
              <a:t>www.globalpetrolprices.com/USA/Illinois/diesel_prices/</a:t>
            </a:r>
            <a:r>
              <a:rPr lang="e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/>
              </a:rPr>
              <a:t>www.grainger.com/product/9MDM6?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3"/>
              </a:rPr>
              <a:t>https://www.researchgate.net/figure/Comparison-of-Fuel-Cell-Cost-Estimates-for-Stationary-and-Mobile-PEM-Fuel-Cell-Systems_tbl5_254703613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4"/>
              </a:rPr>
              <a:t>https://www.researchgate.net/figure/Comparison-of-Fuel-Cell-Cost-Estimates-for-Stationary-and-Mobile-PEM-Fuel-Cell-Systems_tbl5_254703613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5"/>
              </a:rPr>
              <a:t>https://www.relakhs.com/mutual-funds-taxation-rules-fy-2019-20-ay-2020-21/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6"/>
              </a:rPr>
              <a:t>https://cafcp.org/content/cost-refill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7"/>
              </a:rPr>
              <a:t>https://www.macrotrends.net/2540/platinum-prices-historical-chart-data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8"/>
              </a:rPr>
              <a:t>https://www.macrotrends.net/2540/platinum-prices-historical-chart-data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9"/>
              </a:rPr>
              <a:t>https://netl.doe.gov/sites/default/files/netl-file/FCHandbook7.pdf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100" u="sng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https://www.solsystems.com/srec-customers/srec-basics-faq/</a:t>
            </a:r>
            <a:endParaRPr sz="110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